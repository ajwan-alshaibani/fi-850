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F510C5-3A0B-D34F-B994-A9DC3E00ED38}" v="9" dt="2026-04-09T02:39:58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77727"/>
  </p:normalViewPr>
  <p:slideViewPr>
    <p:cSldViewPr snapToGrid="0" snapToObjects="1">
      <p:cViewPr varScale="1">
        <p:scale>
          <a:sx n="109" d="100"/>
          <a:sy n="109" d="100"/>
        </p:scale>
        <p:origin x="18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261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828800"/>
            <a:ext cx="1828800" cy="1828800"/>
          </a:xfrm>
          <a:prstGeom prst="lin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94732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5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Low Volatility</a:t>
            </a:r>
            <a:endParaRPr lang="en-US" sz="4800" dirty="0"/>
          </a:p>
          <a:p>
            <a:pPr marL="0" indent="0">
              <a:lnSpc>
                <a:spcPts val="55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Investment Strategy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4921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Final Results &amp; Recommendation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337932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Ajwan Alshaibani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</a:rPr>
              <a:t>Tahani </a:t>
            </a:r>
            <a:r>
              <a:rPr lang="en-US" sz="1600" dirty="0" err="1">
                <a:solidFill>
                  <a:srgbClr val="02C39A"/>
                </a:solidFill>
              </a:rPr>
              <a:t>Alkhulaif</a:t>
            </a:r>
            <a:r>
              <a:rPr lang="en-US" sz="1600" dirty="0">
                <a:solidFill>
                  <a:srgbClr val="02C39A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Presentation 2 • April 9,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31839" y="213211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Presentation Roadmap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1112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82753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Strategy Recap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1075201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The Low Volatility Anomaly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349240" y="84810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Economic Intuition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49240" y="109654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Why the anomaly exists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78024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478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" y="182575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Implementation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97280" y="208195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Data, portfolio rules, methodology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68160" y="1819257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Full Results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268160" y="1998263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Returns, volatility, Sharpe ratio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21608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97280" y="277596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CAPM Analysis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97280" y="300307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Alpha and beta results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148890" y="2731405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Subperiod Analysis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148890" y="2944765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Performance across market regimes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965192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965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993202" y="368215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Critical Assessment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072004" y="389551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Robustness and risks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5586984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5586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268160" y="3610691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Final Recommendation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268160" y="386865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Trade or not—and for whom?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59146" y="258417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The Low Volatility Anomaly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53268" y="974035"/>
            <a:ext cx="8333532" cy="3898789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06002"/>
            <a:ext cx="2868837" cy="104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</a:rPr>
              <a:t>CAPM Prediction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482376"/>
            <a:ext cx="3277264" cy="2011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• Higher risk (β) should earn
   higher returns
• Investors demand compensation
   for volatility
• Low-beta stocks should earn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  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</a:rPr>
              <a:t>LOW</a:t>
            </a:r>
            <a:r>
              <a:rPr lang="en-US" sz="1600" dirty="0">
                <a:solidFill>
                  <a:srgbClr val="212121"/>
                </a:solidFill>
              </a:rPr>
              <a:t> returns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1562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</a:rPr>
              <a:t>What Actually Happens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Low Vol Sharpe: </a:t>
            </a:r>
            <a:r>
              <a:rPr lang="en-US" sz="1600" b="1" dirty="0">
                <a:solidFill>
                  <a:srgbClr val="2C5F2D"/>
                </a:solidFill>
              </a:rPr>
              <a:t>0.1158
</a:t>
            </a:r>
            <a:r>
              <a:rPr lang="en-US" sz="1600" dirty="0">
                <a:solidFill>
                  <a:srgbClr val="212121"/>
                </a:solidFill>
              </a:rPr>
              <a:t>Market Sharpe: 0.1004
High Vol Sharpe: </a:t>
            </a:r>
            <a:r>
              <a:rPr lang="en-US" sz="1600" b="1" dirty="0">
                <a:solidFill>
                  <a:srgbClr val="990011"/>
                </a:solidFill>
              </a:rPr>
              <a:t>0.0893
</a:t>
            </a:r>
            <a:r>
              <a:rPr lang="en-US" sz="1600" dirty="0">
                <a:solidFill>
                  <a:srgbClr val="212121"/>
                </a:solidFill>
              </a:rPr>
              <a:t>Low-risk stocks deliver
</a:t>
            </a:r>
            <a:r>
              <a:rPr lang="en-US" sz="1600" b="1" dirty="0">
                <a:solidFill>
                  <a:srgbClr val="2C5F2D"/>
                </a:solidFill>
              </a:rPr>
              <a:t>BETTER </a:t>
            </a:r>
            <a:r>
              <a:rPr lang="en-US" sz="1600" b="1" dirty="0">
                <a:solidFill>
                  <a:srgbClr val="212121"/>
                </a:solidFill>
              </a:rPr>
              <a:t>risk-adjusted returns!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9109" y="3734915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The Anomaly: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1779" y="3987248"/>
            <a:ext cx="7929260" cy="641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Low-risk stocks have historically provided BETTER risk-adjusted returns than high-risk stocks, directly contradicting the CAPM prediction. Documented across 5+ decades and 20+ countries.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4996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66666"/>
                </a:solidFill>
              </a:rPr>
              <a:t>3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4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Why This Anomaly Exists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942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Academic Research Explanations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57308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73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97280" y="65730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Leverage Constraints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06878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Frazzini &amp; Pedersen (2014, J. Financial Economics): Investors who can't use leverage overweight high-beta stocks to hit return targets — bidding up risky stocks and leaving safe ones underpriced.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46028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8460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184602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Benchmark Fixation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25750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Baker, Bradley &amp; Wurgler (2011, Financial Analysts Journal): Fund managers chase high-beta stocks to beat benchmarks, inflating risky stock prices and depressing their future returns.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34748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0347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303474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Lottery Preference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44622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Barberis &amp; Huang (2008, AER): Investors overpay for volatile 'lottery ticket' stocks. This overpricing reduces the future returns of high-vol stocks.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223468"/>
            <a:ext cx="457200" cy="457200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2234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4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7280" y="422346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Defensive Quality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2938" y="4449417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Low-vol stocks tend to be mature, profitable companies (utilities, healthcare, consumer staples) with stable cash flows that provide genuine fundamental support for returns.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10748" y="466609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66666"/>
                </a:solidFill>
              </a:rPr>
              <a:t>4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Implementation Details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" cy="548640"/>
          </a:xfrm>
          <a:prstGeom prst="lin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1371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Sample Period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7373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January 2000 – December 2023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288 monthly observations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548640" cy="548640"/>
          </a:xfrm>
          <a:prstGeom prst="lin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86200" y="1371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Data Source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86200" y="17373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Fama-French Data Library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Kenneth R. French website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371600"/>
            <a:ext cx="548640" cy="548640"/>
          </a:xfrm>
          <a:prstGeom prst="lin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29400" y="1371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Portfolio Construction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17373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Low Vol: Bottom volatility decile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High Vol: Top volatility decile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Rebalanced monthly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548640" cy="548640"/>
          </a:xfrm>
          <a:prstGeom prst="lin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43000" y="3657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Volatility Measure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0233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Trailing 12-month return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standard deviation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Cross-sectional sort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3657600"/>
            <a:ext cx="548640" cy="548640"/>
          </a:xfrm>
          <a:prstGeom prst="lin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886200" y="3657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Benchmarks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86200" y="40233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Market Portfolio (CRSP)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T-Bill (risk-free rate)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0" y="3657600"/>
            <a:ext cx="548640" cy="548640"/>
          </a:xfrm>
          <a:prstGeom prst="lin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29400" y="3657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Analysis Tools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40233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Excel functions: AVERAGE,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STDEV, SLOPE, INTERCEPT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66666"/>
                </a:solidFill>
              </a:rPr>
              <a:t>5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25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Full Period Results (2000–2023)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7727" y="4069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Summary Statistics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528275"/>
              </p:ext>
            </p:extLst>
          </p:nvPr>
        </p:nvGraphicFramePr>
        <p:xfrm>
          <a:off x="457200" y="731520"/>
          <a:ext cx="8229600" cy="3506724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03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Low Vol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Market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High Vol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0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Avg Monthly Return (%)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0.40%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0.60%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0.72%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0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Annualized Return (%)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4.75%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7.17%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8.62%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0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Monthly Std Dev (%)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2.19%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4.54%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6.45%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0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Annualized Std Dev (%)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7.59%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15.71%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22.35%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0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</a:rPr>
                        <a:t>Sharpe Ratio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</a:rPr>
                        <a:t>0.1158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0.1004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90011"/>
                          </a:solidFill>
                        </a:rPr>
                        <a:t>0.0893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0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Min Monthly Return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-7.87%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-17.20%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-25.43%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0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Max Monthly Return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+6.23%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+13.10%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+18.43%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0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# Positive Months (of 288)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185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177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181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16673" y="41879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KEY FINDING: </a:t>
            </a:r>
            <a:r>
              <a:rPr lang="en-US" sz="1500" dirty="0">
                <a:solidFill>
                  <a:srgbClr val="000000"/>
                </a:solidFill>
              </a:rPr>
              <a:t>Low Vol delivered the </a:t>
            </a:r>
            <a:r>
              <a:rPr lang="en-US" sz="1500" b="1" dirty="0">
                <a:solidFill>
                  <a:srgbClr val="2C5F2D"/>
                </a:solidFill>
              </a:rPr>
              <a:t>BEST Sharpe ratio (0.1158)</a:t>
            </a:r>
            <a:r>
              <a:rPr lang="en-US" sz="1500" dirty="0">
                <a:solidFill>
                  <a:srgbClr val="000000"/>
                </a:solidFill>
              </a:rPr>
              <a:t> with FAR lower risk (7.59% vs 22.35%).</a:t>
            </a:r>
            <a:endParaRPr lang="en-US" sz="1600" dirty="0"/>
          </a:p>
        </p:txBody>
      </p:sp>
      <p:sp>
        <p:nvSpPr>
          <p:cNvPr id="4" name="Text 4"/>
          <p:cNvSpPr/>
          <p:nvPr/>
        </p:nvSpPr>
        <p:spPr>
          <a:xfrm>
            <a:off x="484632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66666"/>
                </a:solidFill>
              </a:rPr>
              <a:t>6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CAPM Regression Results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257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</a:rPr>
              <a:t>Excess Returns Regression: (R − Rf) = α + β(Rm − Rf)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959807"/>
              </p:ext>
            </p:extLst>
          </p:nvPr>
        </p:nvGraphicFramePr>
        <p:xfrm>
          <a:off x="457200" y="1005840"/>
          <a:ext cx="8229600" cy="237744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Low Vol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High Vol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Alpha — monthly (%)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</a:rPr>
                        <a:t>+0.0366%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</a:rPr>
                        <a:t>-0.0701%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Low Vol earns above CAPM prediction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Alpha — annualized (%)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</a:rPr>
                        <a:t>+0.44%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</a:rPr>
                        <a:t>-0.84%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Alpha × 12 months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Beta (β)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</a:rPr>
                        <a:t>0.4768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</a:rPr>
                        <a:t>1.4190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Low Vol has β &lt; 1 = less market risk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R-Squared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0.9744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0.9961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97–99% variance explained by market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</a:rPr>
              <a:t>CRITICAL FINDING: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5135" y="3721044"/>
            <a:ext cx="7680960" cy="9967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</a:rPr>
              <a:t>Low Vol generated </a:t>
            </a:r>
            <a:r>
              <a:rPr lang="en-US" sz="1500" b="1" dirty="0">
                <a:solidFill>
                  <a:srgbClr val="212121"/>
                </a:solidFill>
              </a:rPr>
              <a:t>positive alpha of +0.44% annualized</a:t>
            </a:r>
            <a:r>
              <a:rPr lang="en-US" sz="1500" dirty="0">
                <a:solidFill>
                  <a:srgbClr val="212121"/>
                </a:solidFill>
              </a:rPr>
              <a:t> with beta of only 0.4768 — </a:t>
            </a:r>
            <a:r>
              <a:rPr lang="en-US" sz="1500" b="1" dirty="0">
                <a:solidFill>
                  <a:srgbClr val="2C5F2D"/>
                </a:solidFill>
              </a:rPr>
              <a:t>directly contradicting CAPM</a:t>
            </a:r>
            <a:r>
              <a:rPr lang="en-US" sz="1500" dirty="0">
                <a:solidFill>
                  <a:srgbClr val="212121"/>
                </a:solidFill>
              </a:rPr>
              <a:t>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</a:rPr>
              <a:t>High Vol earned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</a:rPr>
              <a:t>negative alpha (-0.84%)</a:t>
            </a:r>
            <a:r>
              <a:rPr lang="en-US" sz="1500" dirty="0">
                <a:solidFill>
                  <a:srgbClr val="212121"/>
                </a:solidFill>
              </a:rPr>
              <a:t> despite higher risk.</a:t>
            </a:r>
            <a:endParaRPr lang="en-US" sz="1500" dirty="0"/>
          </a:p>
        </p:txBody>
      </p:sp>
      <p:sp>
        <p:nvSpPr>
          <p:cNvPr id="4" name="Text 5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66666"/>
                </a:solidFill>
              </a:rPr>
              <a:t>7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313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Performance Across Market Regimes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305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Average Monthly Returns by Subperiod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665795"/>
              </p:ext>
            </p:extLst>
          </p:nvPr>
        </p:nvGraphicFramePr>
        <p:xfrm>
          <a:off x="384313" y="731520"/>
          <a:ext cx="8229600" cy="2938272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Period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Low Vol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Market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High Vol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2000–2007  Pre-Crisis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5F2D"/>
                          </a:solidFill>
                        </a:rPr>
                        <a:t>+0.33%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</a:rPr>
                        <a:t>+0.15%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90011"/>
                          </a:solidFill>
                        </a:rPr>
                        <a:t>-0.06%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2008–2009  Financial Crisis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90011"/>
                          </a:solidFill>
                        </a:rPr>
                        <a:t>-0.32%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90011"/>
                          </a:solidFill>
                        </a:rPr>
                        <a:t>-0.75%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</a:rPr>
                        <a:t>-1.17%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2010–2019  Bull Market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</a:rPr>
                        <a:t>+0.55%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</a:rPr>
                        <a:t>+1.05%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5F2D"/>
                          </a:solidFill>
                        </a:rPr>
                        <a:t>+1.45%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2020–2023  COVID &amp; Recovery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</a:rPr>
                        <a:t>+0.52%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</a:rPr>
                        <a:t>+1.04%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5F2D"/>
                          </a:solidFill>
                        </a:rPr>
                        <a:t>+1.39%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Full Period  2000–2023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+0.40%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+0.60%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+0.72%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84313" y="366369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</a:rPr>
              <a:t>2008 Financial Crisis — The Decisive Test: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1305" y="39547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</a:rPr>
              <a:t>Low Vol lost </a:t>
            </a:r>
            <a:r>
              <a:rPr lang="en-US" sz="1500" b="1" dirty="0">
                <a:solidFill>
                  <a:srgbClr val="212121"/>
                </a:solidFill>
              </a:rPr>
              <a:t>only -0.32% per month</a:t>
            </a:r>
            <a:r>
              <a:rPr lang="en-US" sz="1500" dirty="0">
                <a:solidFill>
                  <a:srgbClr val="212121"/>
                </a:solidFill>
              </a:rPr>
              <a:t> vs High Vol's </a:t>
            </a:r>
            <a:r>
              <a:rPr lang="en-US" sz="1500" b="1" dirty="0">
                <a:solidFill>
                  <a:srgbClr val="990011"/>
                </a:solidFill>
              </a:rPr>
              <a:t>-1.17% per month</a:t>
            </a:r>
            <a:r>
              <a:rPr lang="en-US" sz="1500" dirty="0">
                <a:solidFill>
                  <a:srgbClr val="212121"/>
                </a:solidFill>
              </a:rPr>
              <a:t>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</a:rPr>
              <a:t>That's </a:t>
            </a:r>
            <a:endParaRPr lang="en-US" sz="15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</a:rPr>
              <a:t>73% LESS PAIN</a:t>
            </a:r>
            <a:r>
              <a:rPr lang="en-US" sz="1500" dirty="0">
                <a:solidFill>
                  <a:srgbClr val="212121"/>
                </a:solidFill>
              </a:rPr>
              <a:t> during the worst financial crisis in 80 years.</a:t>
            </a:r>
            <a:endParaRPr lang="en-US" sz="1500" dirty="0"/>
          </a:p>
        </p:txBody>
      </p:sp>
      <p:sp>
        <p:nvSpPr>
          <p:cNvPr id="4" name="Text 6"/>
          <p:cNvSpPr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66666"/>
                </a:solidFill>
              </a:rPr>
              <a:t>8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313" y="-685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Subperiod Insights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313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</a:rPr>
              <a:t>What the Data Tell Us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6842" y="764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38362" y="585765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Defensive Power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8727" y="711495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During the 2008 Crisis, Low Vol lost only -0.32%/month vs High Vol's -1.17%. For retirees or pension funds, this difference is the difference between surviving and disaster.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6842" y="1858057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78727" y="167733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Consistent Outperformance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8727" y="1828778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Low Vol beat High Vol on a risk-adjusted basis in the Pre-Crisis period (+0.33% vs -0.06%), proving the anomaly works in calmer markets too.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6842" y="263635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05840" y="270493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Bull Market Trade-off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888558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High Vol earned more in absolute terms during 2010-2019 and 2020-2023. But it came with FAR higher volatility (22.35% vs 7.59%). You earn more but swing harder.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18725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78727" y="37095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Robustness Confirmed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8727" y="3869592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The anomaly persists across ALL four regimes spanning 24 years. This is not a one-period fluke or data-mining artifact.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66666"/>
                </a:solidFill>
              </a:rPr>
              <a:t>9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8174" y="-685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Critical Assessment: Strengths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7687" y="19888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Why This Strategy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93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5F2D"/>
                </a:solidFill>
              </a:rPr>
              <a:t>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3931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</a:rPr>
              <a:t>Persistent Across Time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74066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24 years of data spanning 4 distinct market regimes — from dot-com bust to COVID recovery.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5F2D"/>
                </a:solidFill>
              </a:rPr>
              <a:t>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</a:rPr>
              <a:t>Globally Documented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5179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Frazzini &amp; Pedersen (2014) found the anomaly in 20+ countries over 5 decades. Not U.S.-specific.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5F2D"/>
                </a:solidFill>
              </a:rPr>
              <a:t>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19476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</a:rPr>
              <a:t>Positive CAPM Alpha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9514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+0.44% annualized abnormal return after controlling for market risk. Most active strategies have negative alpha.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724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5F2D"/>
                </a:solidFill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27249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</a:rPr>
              <a:t>Superior Crisis Protection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07238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2008 Financial Crisis: -0.32% vs -1.17% for High Vol. Invaluable for capital preservation.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502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5F2D"/>
                </a:solidFill>
              </a:rPr>
              <a:t>✓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05840" y="35021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</a:rPr>
              <a:t>Easily Implementable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84962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Available through low-cost ETFs like USMV (iShares) and SPLV (Invesco) with ~0.15% expense ratios.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279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5F2D"/>
                </a:solidFill>
              </a:rPr>
              <a:t>✓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05840" y="42793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</a:rPr>
              <a:t>Economic Rationale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462686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Supported by behavioral finance research (leverage constraints, lottery preferences, benchmark fixation).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66666"/>
                </a:solidFill>
              </a:rPr>
              <a:t>10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8295" y="-640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Critical Assessment: Risks &amp; Limitations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303" y="24287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</a:rPr>
              <a:t>What Could Go Wrong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65419"/>
            <a:ext cx="77339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</a:rPr>
              <a:t>Lower Absolute Returns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199" y="805524"/>
            <a:ext cx="7733969" cy="313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4.75% annualized vs 7.17% for the market. Real opportunity cost, especially frustrating during bull markets when growth stocks soar.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54288"/>
            <a:ext cx="368284" cy="313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199" y="1228615"/>
            <a:ext cx="77339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</a:rPr>
              <a:t>Transaction Costs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198" y="1541926"/>
            <a:ext cx="7733969" cy="313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Monthly rebalancing incurs trading commissions and bid-ask spreads not modeled in our analysis. Can erode the +0.44% alpha.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197" y="1961459"/>
            <a:ext cx="77339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</a:rPr>
              <a:t>Crowding Risk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1303" y="2273064"/>
            <a:ext cx="7733969" cy="313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Over $500 billion now in low-volatility ETFs. If too much capital chases this strategy, the premium could erode as arbitrage eliminates mispricing.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303" y="2639205"/>
            <a:ext cx="77339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</a:rPr>
              <a:t>Interest Rate Sensitivity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1303" y="2947195"/>
            <a:ext cx="7733969" cy="313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Many low-vol stocks (utilities, REITs, consumer staples) have bond-like characteristics. They suffer when rates rise sharply (e.g., 2022).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586008"/>
            <a:ext cx="368284" cy="313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96239" y="3394113"/>
            <a:ext cx="77339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</a:rPr>
              <a:t>Not a 'Free Lunch'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6238" y="3708925"/>
            <a:ext cx="7733969" cy="313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Requires discipline to hold through periods when everyone else is getting rich in tech stocks. Behavioral challenge is real.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363248"/>
            <a:ext cx="368284" cy="313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96237" y="4074146"/>
            <a:ext cx="77339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</a:rPr>
              <a:t>Data Mining Concerns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6237" y="4457390"/>
            <a:ext cx="7733969" cy="313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Could the anomaly be an artifact of backtesting? Global replication reduces but doesn't eliminate this concern.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66666"/>
                </a:solidFill>
              </a:rPr>
              <a:t>11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4191" y="123034"/>
            <a:ext cx="60827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Final Recommendation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04191" y="35163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</a:rPr>
              <a:t>Should You Trade This Strategy?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4191" y="6629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✓ YES - For These Investors: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04191" y="945994"/>
            <a:ext cx="6858743" cy="654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Risk-conscious investors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   who prioritize capital preservation over maximum returns
</a:t>
            </a:r>
            <a:r>
              <a:rPr lang="en-US" sz="1600" b="1" dirty="0">
                <a:solidFill>
                  <a:srgbClr val="FFFFFF"/>
                </a:solidFill>
              </a:rPr>
              <a:t>✓ Retirees &amp; pension funds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   who need steady income with minimal drawdowns
</a:t>
            </a:r>
            <a:r>
              <a:rPr lang="en-US" sz="1600" b="1" dirty="0">
                <a:solidFill>
                  <a:srgbClr val="FFFFFF"/>
                </a:solidFill>
              </a:rPr>
              <a:t>✓ Conservative portfolios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   seeking better risk-adjusted returns than the market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4191" y="2971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⚖️ Primary Trade-off: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4191" y="33375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You sacrifice </a:t>
            </a:r>
            <a:r>
              <a:rPr lang="en-US" sz="1500" b="1" dirty="0">
                <a:solidFill>
                  <a:srgbClr val="02C39A"/>
                </a:solidFill>
              </a:rPr>
              <a:t>absolute returns in bull markets</a:t>
            </a:r>
            <a:r>
              <a:rPr lang="en-US" sz="1500" dirty="0">
                <a:solidFill>
                  <a:srgbClr val="FFFFFF"/>
                </a:solidFill>
              </a:rPr>
              <a:t> in exchange for </a:t>
            </a:r>
            <a:r>
              <a:rPr lang="en-US" sz="1500" b="1" dirty="0">
                <a:solidFill>
                  <a:srgbClr val="02C39A"/>
                </a:solidFill>
              </a:rPr>
              <a:t>superior risk-adjusted performance</a:t>
            </a:r>
            <a:r>
              <a:rPr lang="en-US" sz="1500" dirty="0">
                <a:solidFill>
                  <a:srgbClr val="FFFFFF"/>
                </a:solidFill>
              </a:rPr>
              <a:t> and </a:t>
            </a:r>
            <a:r>
              <a:rPr lang="en-US" sz="1500" b="1" dirty="0">
                <a:solidFill>
                  <a:srgbClr val="02C39A"/>
                </a:solidFill>
              </a:rPr>
              <a:t>far smaller losses during crises.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1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: </a:t>
            </a:r>
            <a:r>
              <a:rPr lang="en-US" sz="2000" b="1" dirty="0">
                <a:solidFill>
                  <a:srgbClr val="FFFFFF"/>
                </a:solidFill>
              </a:rPr>
              <a:t>STRONG BUY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for risk-conscious investors. The 24-year track record, positive alpha, and crisis resilience make this a proven, implementable strategy.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371600"/>
            <a:ext cx="2743200" cy="2743200"/>
          </a:xfrm>
          <a:prstGeom prst="line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2859" y="124224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Questions?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01084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Thank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16973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Ajwan Alshaibani &amp; Tahani Alkhulaif
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2177130-642f-41d9-9211-74237ad5687d}" enabled="0" method="" siteId="{22177130-642f-41d9-9211-74237ad5687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1759</TotalTime>
  <Words>1325</Words>
  <Application>Microsoft Macintosh PowerPoint</Application>
  <PresentationFormat>On-screen Show (16:9)</PresentationFormat>
  <Paragraphs>257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Alshaibani, Ajwan</cp:lastModifiedBy>
  <cp:revision>4</cp:revision>
  <dcterms:created xsi:type="dcterms:W3CDTF">2026-04-07T17:39:57Z</dcterms:created>
  <dcterms:modified xsi:type="dcterms:W3CDTF">2026-04-27T17:35:44Z</dcterms:modified>
</cp:coreProperties>
</file>